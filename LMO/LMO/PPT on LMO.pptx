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0" r:id="rId2"/>
    <p:sldId id="279" r:id="rId3"/>
    <p:sldId id="286" r:id="rId4"/>
    <p:sldId id="281" r:id="rId5"/>
    <p:sldId id="288" r:id="rId6"/>
    <p:sldId id="283" r:id="rId7"/>
    <p:sldId id="282" r:id="rId8"/>
    <p:sldId id="287" r:id="rId9"/>
    <p:sldId id="289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42835-DB63-4B73-A02E-78BB6E651EBC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CA739-CA82-4C6B-86B6-4F5392403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916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0D2F6-5C11-4CD2-B0C8-D3ADB4774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7B971-E2CD-43B2-9D2B-F6EDE704D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42DF2-CE21-4100-8A62-ABDA702F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BF06C-F446-44C9-AEEC-A93AF384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6D1C8-0F24-4858-A6E8-4016C828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8E4D27-B4CF-474D-90D8-82571C7D97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1DF348-3B31-442D-9C5B-CE4BC9E997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1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02FD-D25A-4D10-8831-CC9C1B11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86E9D-B936-42B8-96FC-906D7484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E0A7C-46C5-4993-84BE-DD9BE322E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EB8B5-9EDA-4F8B-B38C-026E2E81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2761A-F798-4C4C-9FB5-B718D364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7E5F4C-DBFA-466C-97E9-AAD576B0F6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93DB54-70FA-4FC2-95CD-54A15F3AE6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83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A43B-9528-429D-B4FD-3F5591988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F648D-3EF2-4079-9CA5-28C5760DF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3D65-1922-4337-BA91-D7DE1C95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394E0-6C1F-4D59-8F70-41B8EAF4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69C33-1C43-488C-9112-54569F14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A0AC88-DADF-4F08-83D5-6B58B41E1C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104C0C-D183-41C2-BF84-0366066CA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9FA0-10C0-4C59-ACB6-63125375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75A51-0A1A-4EF7-A66E-C28633417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3F17C-76C4-499F-9AD1-912D97EA0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19A6-638E-4149-972B-2B1C0856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5C21A-0353-4AA0-9E19-F86FA0D4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3D5DB-201D-46F5-B42F-0F9C0444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B0DE89-F9B7-4746-97E3-D71E0389E9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58E17C-636E-49D1-BF5F-C256D704CD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7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33FB-4746-48E0-B55C-9E7D94C9C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C04E5-CF19-4C24-8062-42F3CC1C0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6825C-EF87-46B3-8891-1F0BF0FA1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7F181-E20B-4AA1-A2F2-96AF97D4B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CA0C4-2BA3-4F44-90B9-02B7DF625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ACF8B-79E4-4560-A8E9-C2BF9B50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2DE10-407A-49F1-B83C-C56E7224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980174-7046-42A6-B888-B5F7C276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FCE831-E840-4B79-852F-83B45683B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938FBC-08F9-469F-8529-6907BBFA1E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1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FE4B-FE76-4619-9BD8-B1D99F94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79840-67A1-4240-8902-0DADEAEC0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8CEB6-CDAE-470A-BC55-4E1CCE37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78A53-4102-404D-B1FA-367B5906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57AD38-585D-424F-9563-05041D9DC6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2E6D7E-4609-46B6-AE4D-258258D473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0DD747-2B54-4F9B-86EE-CAB63405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C81B0-8CDC-4590-A614-BD6FC901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C3CBF-9446-4D4E-9AA5-0A209DC6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DCB50-B9A3-46DF-9BA3-0C0A54899C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FDBB25-E3C2-488B-BE63-DA2E40A406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247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5984-742D-42D6-9F77-BBF9B33C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F89B5-3AFE-48BB-A743-5E9E8A5B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F6F4F-B255-4AF9-A51B-FFCD3BE6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99823-410C-4157-BFFE-83C2D65B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54D37-8B3D-4202-8BCF-3548A23D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DE5FB-3A93-440A-959D-E5BF0359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372C40-40F3-4668-838C-DF045D9301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14D8A8-F9C8-4A0B-9BC4-2196A99018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0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3766-D096-461B-A8F5-89118AD7E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4C7F54-A325-47B2-BC8D-717F9A042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5CA5D-C59C-4EA6-9AC2-465EF4CF0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42009-74B1-404B-AF04-A5BDD1825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D148B-510D-46EA-BFD0-8BF96D47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C2ECB-1467-4340-912F-7C00AE86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99CE2D-2A6B-4B71-BDD6-25274066A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3BD1CF-8961-4822-8937-9A77C86195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4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BDD8-03E2-446C-B598-644716BE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E3430-334C-4C4F-986B-D17C40EA0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2B0E6-3394-44A2-A2D9-44D59DA3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BB9B3-AB17-4884-9D86-D72D6BFC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97811-26E4-49E1-BF31-0AEB7334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7CB50D-3037-48A0-9558-D2F92F6EEA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482AE8-074E-4BF4-814F-33B56E050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0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750863-8B7B-4F7F-87A6-A4F7E8626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1B7FE-11DA-414E-BA5A-9366CFCC6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DC761-8329-4253-8573-13DC90A3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A4C29-220D-4CAC-85A0-9F4350CB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A3B9A-3B10-47F2-9035-6BDD0723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D4BEFB-AFA2-4010-9C7E-C652B66301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113" t="29278" r="31031" b="52523"/>
          <a:stretch/>
        </p:blipFill>
        <p:spPr>
          <a:xfrm>
            <a:off x="1" y="-65986"/>
            <a:ext cx="2757536" cy="886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C33061-69EA-4FD4-8B82-636CD1D16C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139" t="30717" r="12953" b="53399"/>
          <a:stretch/>
        </p:blipFill>
        <p:spPr>
          <a:xfrm>
            <a:off x="10578740" y="112713"/>
            <a:ext cx="1550120" cy="7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0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450EB1-43CB-4125-9F75-D5620A7A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CB40F-6430-4CAD-B12D-958B2517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77EFB-158F-45BF-B3D8-8717A3812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C86C5-7F84-4DD7-A50A-196B17D87A2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227E1-B7A4-4144-B85F-117444412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5A406-AB1B-448C-981B-0DB0857E3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DFD17-AAB4-4E50-A820-AF19BBDF2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0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97025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CBU-01 </a:t>
            </a:r>
            <a:br>
              <a:rPr lang="en-IN" dirty="0"/>
            </a:br>
            <a:r>
              <a:rPr lang="en-IN" dirty="0"/>
              <a:t>      Liquid Medical Oxygen                                  </a:t>
            </a:r>
            <a:r>
              <a:rPr lang="en-IN" sz="1800" dirty="0"/>
              <a:t>15.05.2026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dirty="0"/>
              <a:t> A. Meeting Number - CBU - 1/2026</a:t>
            </a:r>
          </a:p>
          <a:p>
            <a:pPr marL="0" indent="0">
              <a:buNone/>
            </a:pPr>
            <a:r>
              <a:rPr lang="en-IN" dirty="0"/>
              <a:t>B. Category : Product and Service </a:t>
            </a:r>
          </a:p>
          <a:p>
            <a:pPr marL="0" indent="0">
              <a:buNone/>
            </a:pPr>
            <a:r>
              <a:rPr lang="en-IN" dirty="0"/>
              <a:t>C. Product -Permanent Installation of Liquid Medical Oxygen Plant </a:t>
            </a:r>
          </a:p>
          <a:p>
            <a:pPr marL="0" indent="0">
              <a:buNone/>
            </a:pPr>
            <a:r>
              <a:rPr lang="en-IN" dirty="0"/>
              <a:t>D. Service - Supply of Liquid Oxygen by Tanker </a:t>
            </a:r>
          </a:p>
          <a:p>
            <a:pPr marL="0" indent="0">
              <a:buNone/>
            </a:pPr>
            <a:r>
              <a:rPr lang="en-IN" dirty="0"/>
              <a:t>E. Mandate by NMC (Yes / No ) : Yes </a:t>
            </a:r>
          </a:p>
          <a:p>
            <a:pPr marL="0" indent="0">
              <a:buNone/>
            </a:pPr>
            <a:r>
              <a:rPr lang="en-IN" dirty="0"/>
              <a:t>F. Vital / Essential / Desirable : Vital for Hospital </a:t>
            </a:r>
          </a:p>
          <a:p>
            <a:pPr marL="0" indent="0">
              <a:buNone/>
            </a:pPr>
            <a:r>
              <a:rPr lang="en-IN" dirty="0"/>
              <a:t>G. Domestic : (No Import)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34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</a:t>
            </a:r>
            <a:r>
              <a:rPr lang="en-IN" sz="3800" b="1" dirty="0"/>
              <a:t>Liquid Medical Oxygen (LMO) Plant Room Setup</a:t>
            </a:r>
            <a:endParaRPr lang="en-IN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For a 1280 Census-bed tertiary care medical college hospital, the LMO system should be designed with:</a:t>
            </a:r>
          </a:p>
          <a:p>
            <a:pPr lvl="0"/>
            <a:r>
              <a:rPr lang="en-IN" dirty="0"/>
              <a:t>Primary, secondary, and reserve oxygen sources </a:t>
            </a:r>
          </a:p>
          <a:p>
            <a:pPr lvl="0"/>
            <a:r>
              <a:rPr lang="en-IN" dirty="0"/>
              <a:t>HTM 02-01 / NFPA 99C compliant MGPS infrastructure </a:t>
            </a:r>
          </a:p>
          <a:p>
            <a:pPr lvl="0"/>
            <a:r>
              <a:rPr lang="en-IN" dirty="0"/>
              <a:t>Safe plant room layout with fire protection and redundancy </a:t>
            </a:r>
          </a:p>
          <a:p>
            <a:r>
              <a:rPr lang="en-IN" dirty="0"/>
              <a:t>Future scalability for ICU, OT, emergency and critical care expansion 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161647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0F15-A07F-D548-A328-DE59F5BA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Need for LMO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D8BE0-3E0C-3056-5A17-0FBFB7AF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571500" lvl="0" indent="-571500">
              <a:buFont typeface="+mj-lt"/>
              <a:buAutoNum type="romanUcPeriod"/>
            </a:pPr>
            <a:r>
              <a:rPr lang="en-IN" dirty="0"/>
              <a:t>Continuous bulk oxygen supply 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dirty="0"/>
              <a:t>Suitable for large bedded hospitals 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dirty="0"/>
              <a:t>Better pressure stability 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dirty="0"/>
              <a:t>Lower operational dependency on cylinders 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dirty="0"/>
              <a:t>Cost-effective for high consumption hospitals 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dirty="0"/>
              <a:t>Essential for ICU &amp; OT load management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56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DE56-B96F-344D-F180-ED453E20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Prerequisite and Participants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D7888-0D30-1C0D-583B-8B795A5C0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34" y="1825625"/>
            <a:ext cx="11969087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2400" b="1" u="sng" dirty="0"/>
              <a:t>Prerequisite : </a:t>
            </a:r>
          </a:p>
          <a:p>
            <a:pPr marL="0" indent="0">
              <a:buNone/>
            </a:pPr>
            <a:r>
              <a:rPr lang="en-IN" sz="2400" b="1" dirty="0"/>
              <a:t>Space Allocation as per Chief Controller of Explosives (CCOE) &amp;  Petroleum and Explosives Safety Organization.(PESO) =9*17 </a:t>
            </a:r>
            <a:r>
              <a:rPr lang="en-IN" sz="2400" b="1" dirty="0" err="1"/>
              <a:t>Mts</a:t>
            </a: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 </a:t>
            </a:r>
          </a:p>
          <a:p>
            <a:pPr marL="0" indent="0">
              <a:buNone/>
            </a:pPr>
            <a:r>
              <a:rPr lang="en-IN" sz="2400" b="1" u="sng" dirty="0"/>
              <a:t>Following Companies are participating</a:t>
            </a:r>
          </a:p>
          <a:p>
            <a:endParaRPr lang="en-IN" sz="2400" b="1" dirty="0"/>
          </a:p>
          <a:p>
            <a:pPr marL="144000" indent="0">
              <a:lnSpc>
                <a:spcPct val="170000"/>
              </a:lnSpc>
              <a:spcBef>
                <a:spcPts val="600"/>
              </a:spcBef>
              <a:buNone/>
            </a:pPr>
            <a:r>
              <a:rPr lang="en-IN" sz="2400" b="1" dirty="0"/>
              <a:t>1. Linde</a:t>
            </a:r>
          </a:p>
          <a:p>
            <a:pPr marL="144000" indent="0">
              <a:lnSpc>
                <a:spcPct val="170000"/>
              </a:lnSpc>
              <a:spcBef>
                <a:spcPts val="600"/>
              </a:spcBef>
              <a:buNone/>
            </a:pPr>
            <a:r>
              <a:rPr lang="en-IN" sz="2400" b="1" dirty="0"/>
              <a:t>2. Shakti Gas </a:t>
            </a:r>
            <a:br>
              <a:rPr lang="en-IN" sz="2400" b="1" dirty="0"/>
            </a:br>
            <a:r>
              <a:rPr lang="en-IN" sz="2400" b="1" dirty="0"/>
              <a:t>3. Air Liquide</a:t>
            </a:r>
          </a:p>
          <a:p>
            <a:pPr marL="144000" indent="0">
              <a:lnSpc>
                <a:spcPct val="170000"/>
              </a:lnSpc>
              <a:spcBef>
                <a:spcPts val="600"/>
              </a:spcBef>
              <a:buNone/>
            </a:pPr>
            <a:r>
              <a:rPr lang="en-IN" sz="2400" b="1" dirty="0"/>
              <a:t>4. Wilson</a:t>
            </a:r>
          </a:p>
          <a:p>
            <a:pPr marL="144000" indent="0">
              <a:lnSpc>
                <a:spcPct val="170000"/>
              </a:lnSpc>
              <a:spcBef>
                <a:spcPts val="600"/>
              </a:spcBef>
              <a:buNone/>
            </a:pPr>
            <a:r>
              <a:rPr lang="en-IN" sz="2400" b="1" dirty="0"/>
              <a:t>5. Inox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2583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F618-9CAA-4264-91F3-730E88297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IN" b="1" dirty="0"/>
              <a:t>Evaluation Parameters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025DF-7D72-60F6-A8BC-53A231934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Technical Compliance </a:t>
            </a:r>
          </a:p>
          <a:p>
            <a:r>
              <a:rPr lang="en-IN" dirty="0"/>
              <a:t>Safety Standards </a:t>
            </a:r>
          </a:p>
          <a:p>
            <a:r>
              <a:rPr lang="en-IN" dirty="0"/>
              <a:t>Installed Base </a:t>
            </a:r>
          </a:p>
          <a:p>
            <a:r>
              <a:rPr lang="en-IN" dirty="0"/>
              <a:t>Service Support </a:t>
            </a:r>
          </a:p>
          <a:p>
            <a:r>
              <a:rPr lang="en-IN" dirty="0"/>
              <a:t>Project Timeline </a:t>
            </a:r>
          </a:p>
          <a:p>
            <a:r>
              <a:rPr lang="en-IN" dirty="0"/>
              <a:t>Costing </a:t>
            </a:r>
          </a:p>
          <a:p>
            <a:r>
              <a:rPr lang="en-IN" dirty="0"/>
              <a:t>Warranty &amp; AMC </a:t>
            </a:r>
          </a:p>
          <a:p>
            <a:r>
              <a:rPr lang="en-IN" dirty="0"/>
              <a:t>Emergency Support </a:t>
            </a:r>
          </a:p>
          <a:p>
            <a:r>
              <a:rPr lang="en-IN" dirty="0"/>
              <a:t>References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05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C190-F3BF-1636-9B7D-31790627C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Comparison of Vendors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F528DE-CC99-3178-B2CA-9CC3F8B09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129507"/>
              </p:ext>
            </p:extLst>
          </p:nvPr>
        </p:nvGraphicFramePr>
        <p:xfrm>
          <a:off x="644577" y="1690688"/>
          <a:ext cx="10709223" cy="41726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1598">
                  <a:extLst>
                    <a:ext uri="{9D8B030D-6E8A-4147-A177-3AD203B41FA5}">
                      <a16:colId xmlns:a16="http://schemas.microsoft.com/office/drawing/2014/main" val="631480536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3103482286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3769126930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1085840610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736062932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358928216"/>
                    </a:ext>
                  </a:extLst>
                </a:gridCol>
              </a:tblGrid>
              <a:tr h="5459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IN" sz="2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solidFill>
                            <a:schemeClr val="tx1"/>
                          </a:solidFill>
                          <a:effectLst/>
                        </a:rPr>
                        <a:t>Inox</a:t>
                      </a:r>
                      <a:endParaRPr lang="en-IN" sz="2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solidFill>
                            <a:schemeClr val="tx1"/>
                          </a:solidFill>
                          <a:effectLst/>
                        </a:rPr>
                        <a:t>Linde</a:t>
                      </a:r>
                      <a:endParaRPr lang="en-IN" sz="2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solidFill>
                            <a:schemeClr val="tx1"/>
                          </a:solidFill>
                          <a:effectLst/>
                        </a:rPr>
                        <a:t>Wilson</a:t>
                      </a:r>
                      <a:endParaRPr lang="en-IN" sz="2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solidFill>
                            <a:schemeClr val="tx1"/>
                          </a:solidFill>
                          <a:effectLst/>
                        </a:rPr>
                        <a:t>Shakti Gases</a:t>
                      </a:r>
                      <a:endParaRPr lang="en-IN" sz="2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kern="100" dirty="0">
                          <a:solidFill>
                            <a:schemeClr val="tx1"/>
                          </a:solidFill>
                          <a:effectLst/>
                        </a:rPr>
                        <a:t>Air Liquide</a:t>
                      </a:r>
                      <a:endParaRPr lang="en-IN" sz="2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559418"/>
                  </a:ext>
                </a:extLst>
              </a:tr>
              <a:tr h="5459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/>
                          </a:solidFill>
                          <a:effectLst/>
                        </a:rPr>
                        <a:t>Industry Experience</a:t>
                      </a:r>
                      <a:endParaRPr lang="en-IN" sz="18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Medium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Medium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157709"/>
                  </a:ext>
                </a:extLst>
              </a:tr>
              <a:tr h="5459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/>
                          </a:solidFill>
                          <a:effectLst/>
                        </a:rPr>
                        <a:t>PAN India Support</a:t>
                      </a:r>
                      <a:endParaRPr lang="en-IN" sz="18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Regional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Regional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053472"/>
                  </a:ext>
                </a:extLst>
              </a:tr>
              <a:tr h="5459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/>
                          </a:solidFill>
                          <a:effectLst/>
                        </a:rPr>
                        <a:t>MGPS Capability</a:t>
                      </a:r>
                      <a:endParaRPr lang="en-IN" sz="18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430179"/>
                  </a:ext>
                </a:extLst>
              </a:tr>
              <a:tr h="5459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/>
                          </a:solidFill>
                          <a:effectLst/>
                        </a:rPr>
                        <a:t>Installation Capability</a:t>
                      </a:r>
                      <a:endParaRPr lang="en-IN" sz="18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Strong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Strong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Moderate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Moderate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Strong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433074"/>
                  </a:ext>
                </a:extLst>
              </a:tr>
              <a:tr h="5459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/>
                          </a:solidFill>
                          <a:effectLst/>
                        </a:rPr>
                        <a:t>Compliance Standards</a:t>
                      </a:r>
                      <a:endParaRPr lang="en-IN" sz="18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HTM/NFPA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HTM/NFPA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HTM/NFPA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HTM/NFPA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HTM/NFPA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11782"/>
                  </a:ext>
                </a:extLst>
              </a:tr>
              <a:tr h="5459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/>
                          </a:solidFill>
                          <a:effectLst/>
                        </a:rPr>
                        <a:t>Cost Competitiveness</a:t>
                      </a:r>
                      <a:endParaRPr lang="en-IN" sz="18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Medium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Medium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tx1"/>
                          </a:solidFill>
                          <a:effectLst/>
                        </a:rPr>
                        <a:t>Competitive</a:t>
                      </a:r>
                      <a:endParaRPr lang="en-IN" sz="16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6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63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30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AFB-ABF5-45C2-7D94-8FCAAABE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6444"/>
            <a:ext cx="10515600" cy="1325563"/>
          </a:xfrm>
        </p:spPr>
        <p:txBody>
          <a:bodyPr/>
          <a:lstStyle/>
          <a:p>
            <a:pPr algn="ctr"/>
            <a:r>
              <a:rPr lang="en-IN" sz="3600" dirty="0"/>
              <a:t>Preferred Criterion : For JECRC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F88D5-7969-448B-4F60-B3EDD0021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AutoNum type="romanLcParenR"/>
            </a:pPr>
            <a:endParaRPr lang="en-IN" dirty="0"/>
          </a:p>
          <a:p>
            <a:pPr marL="571500" indent="-571500">
              <a:buAutoNum type="romanLcParenR"/>
            </a:pPr>
            <a:r>
              <a:rPr lang="en-IN" dirty="0"/>
              <a:t>No upfront CAPEX and Direct cost for LMO Tank </a:t>
            </a:r>
          </a:p>
          <a:p>
            <a:pPr marL="571500" indent="-571500">
              <a:buAutoNum type="romanLcParenR"/>
            </a:pPr>
            <a:endParaRPr lang="en-IN" dirty="0"/>
          </a:p>
          <a:p>
            <a:pPr marL="0" indent="0">
              <a:buNone/>
            </a:pPr>
            <a:r>
              <a:rPr lang="en-IN" dirty="0"/>
              <a:t>ii) Qualifying Vendor to have self - owned manufacturing of Cryogenic Oxygen Plant to be in proximity to our Hospital as Cost of transportation is recurrent expense for 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10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F64527-1B66-FC02-D91A-A57E4C50E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633166"/>
              </p:ext>
            </p:extLst>
          </p:nvPr>
        </p:nvGraphicFramePr>
        <p:xfrm>
          <a:off x="590550" y="3562352"/>
          <a:ext cx="10515600" cy="25599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271096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69357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82604520"/>
                    </a:ext>
                  </a:extLst>
                </a:gridCol>
              </a:tblGrid>
              <a:tr h="4266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Area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Approx Beds/Units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Estimated Oxygen Demand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4882027"/>
                  </a:ext>
                </a:extLst>
              </a:tr>
              <a:tr h="4266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ICU/HDU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250+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High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9383993"/>
                  </a:ext>
                </a:extLst>
              </a:tr>
              <a:tr h="4266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Wards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800+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Moderate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45403006"/>
                  </a:ext>
                </a:extLst>
              </a:tr>
              <a:tr h="4266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OTs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25+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High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12889231"/>
                  </a:ext>
                </a:extLst>
              </a:tr>
              <a:tr h="4266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Emergency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50+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High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5373448"/>
                  </a:ext>
                </a:extLst>
              </a:tr>
              <a:tr h="4266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NICU/PICU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40+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Critical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412483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C7A54F0-9350-4FA1-18D2-6671EBA5E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306" y="119664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Estimated Load Calculation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Proposed Capacity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 LMO Tank: 20 KL to 30 KL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Backup Manifold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Reserve Cylinder Bank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MGPS Network Integration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7A886-F7A8-F940-D2A3-FFF7D8774E96}"/>
              </a:ext>
            </a:extLst>
          </p:cNvPr>
          <p:cNvSpPr txBox="1"/>
          <p:nvPr/>
        </p:nvSpPr>
        <p:spPr>
          <a:xfrm>
            <a:off x="714375" y="1808026"/>
            <a:ext cx="102679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Estimated Load Calculation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Proposed Capacity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 LMO Tank: </a:t>
            </a:r>
            <a:r>
              <a:rPr lang="en-US" alt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13KL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30 KL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Backup Manifold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Reserve Cylinder Bank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MGPS Network Integration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8304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4081-ADD5-F0F2-1D76-7A63A0A0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Proposed Timeline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E6BE25-77EA-8149-F797-E3871AD2C1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7070814"/>
              </p:ext>
            </p:extLst>
          </p:nvPr>
        </p:nvGraphicFramePr>
        <p:xfrm>
          <a:off x="514350" y="3722180"/>
          <a:ext cx="10515600" cy="23883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155244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96712025"/>
                    </a:ext>
                  </a:extLst>
                </a:gridCol>
              </a:tblGrid>
              <a:tr h="341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Activity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Duration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1346609"/>
                  </a:ext>
                </a:extLst>
              </a:tr>
              <a:tr h="341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Design Finalization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 Weeks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9826903"/>
                  </a:ext>
                </a:extLst>
              </a:tr>
              <a:tr h="341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Vendor Finalization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 Week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470931"/>
                  </a:ext>
                </a:extLst>
              </a:tr>
              <a:tr h="341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Civil Work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4 Weeks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514931"/>
                  </a:ext>
                </a:extLst>
              </a:tr>
              <a:tr h="341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Tank Installation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 Weeks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5957386"/>
                  </a:ext>
                </a:extLst>
              </a:tr>
              <a:tr h="341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MGPS Integration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 Weeks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6800154"/>
                  </a:ext>
                </a:extLst>
              </a:tr>
              <a:tr h="341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Testing &amp; Commissioning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1 Week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997836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4D7FD2D-9AB0-86F5-C5A7-69E3C9074192}"/>
              </a:ext>
            </a:extLst>
          </p:cNvPr>
          <p:cNvSpPr txBox="1"/>
          <p:nvPr/>
        </p:nvSpPr>
        <p:spPr>
          <a:xfrm>
            <a:off x="514350" y="2212491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Total Estimated Duration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10–12 Weeks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01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AB3ED-979C-49D6-04F2-F39ABAE72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22844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467</Words>
  <Application>Microsoft Office PowerPoint</Application>
  <PresentationFormat>Widescreen</PresentationFormat>
  <Paragraphs>140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CBU-01        Liquid Medical Oxygen                                  15.05.2026</vt:lpstr>
      <vt:lpstr> Liquid Medical Oxygen (LMO) Plant Room Setup</vt:lpstr>
      <vt:lpstr>Need for LMO</vt:lpstr>
      <vt:lpstr>Prerequisite and Participants</vt:lpstr>
      <vt:lpstr>Evaluation Parameters </vt:lpstr>
      <vt:lpstr>Comparison of Vendors</vt:lpstr>
      <vt:lpstr>Preferred Criterion : For JECRC  </vt:lpstr>
      <vt:lpstr>PowerPoint Presentation</vt:lpstr>
      <vt:lpstr>Proposed Timeline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Brij Kishor Gupta</dc:creator>
  <cp:lastModifiedBy>jmchrc@outlook.com</cp:lastModifiedBy>
  <cp:revision>33</cp:revision>
  <dcterms:created xsi:type="dcterms:W3CDTF">2025-11-18T04:20:00Z</dcterms:created>
  <dcterms:modified xsi:type="dcterms:W3CDTF">2026-06-29T09:53:47Z</dcterms:modified>
</cp:coreProperties>
</file>